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2" r:id="rId2"/>
    <p:sldId id="293" r:id="rId3"/>
    <p:sldId id="294" r:id="rId4"/>
    <p:sldId id="310" r:id="rId5"/>
    <p:sldId id="311" r:id="rId6"/>
    <p:sldId id="312" r:id="rId7"/>
    <p:sldId id="313" r:id="rId8"/>
    <p:sldId id="314" r:id="rId9"/>
    <p:sldId id="309" r:id="rId10"/>
    <p:sldId id="296" r:id="rId11"/>
    <p:sldId id="261" r:id="rId12"/>
    <p:sldId id="267" r:id="rId13"/>
    <p:sldId id="308" r:id="rId14"/>
    <p:sldId id="299" r:id="rId15"/>
    <p:sldId id="302" r:id="rId16"/>
    <p:sldId id="305" r:id="rId17"/>
    <p:sldId id="306" r:id="rId18"/>
    <p:sldId id="30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27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911F00-0880-4CB1-8644-C64E88CE93F0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7B68E-FEA7-4F3C-86EF-29E519D2549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6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54A27568-F8FE-479E-83B9-DEE624B23190}" type="slidenum">
              <a:rPr lang="fa-IR" altLang="fa-IR"/>
              <a:pPr/>
              <a:t>1</a:t>
            </a:fld>
            <a:endParaRPr lang="en-US" altLang="fa-I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a-IR" altLang="fa-IR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2AAA321D-9484-4D36-A8E5-8965EEAB3B77}" type="slidenum">
              <a:rPr lang="fa-IR" altLang="fa-IR"/>
              <a:pPr/>
              <a:t>2</a:t>
            </a:fld>
            <a:endParaRPr lang="en-US" altLang="fa-I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a-IR" altLang="fa-IR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B36D5D8-B2A4-4893-B5BA-837228E32579}" type="slidenum">
              <a:rPr lang="fa-IR" altLang="fa-IR"/>
              <a:pPr/>
              <a:t>3</a:t>
            </a:fld>
            <a:endParaRPr lang="en-US" altLang="fa-IR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a-IR" altLang="fa-IR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B36D5D8-B2A4-4893-B5BA-837228E32579}" type="slidenum">
              <a:rPr lang="fa-IR" altLang="fa-IR"/>
              <a:pPr/>
              <a:t>9</a:t>
            </a:fld>
            <a:endParaRPr lang="en-US" altLang="fa-IR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a-IR" altLang="fa-IR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778EB3CB-69EB-4C4A-8B26-0DEBCC445116}" type="slidenum">
              <a:rPr lang="fa-IR" altLang="fa-IR"/>
              <a:pPr/>
              <a:t>10</a:t>
            </a:fld>
            <a:endParaRPr lang="en-US" altLang="fa-I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a-IR" altLang="fa-IR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C418E6A-3CCE-4A8C-B556-123A0E350A5B}" type="datetimeFigureOut">
              <a:rPr lang="en-IN" smtClean="0"/>
              <a:pPr/>
              <a:t>24-02-2024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E31B974-32AA-4444-91EA-A352C3DD5D6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332656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fa-IR" dirty="0" smtClean="0"/>
              <a:t>Introduction to AVR</a:t>
            </a:r>
            <a:br>
              <a:rPr lang="en-US" altLang="fa-IR" dirty="0" smtClean="0"/>
            </a:br>
            <a:endParaRPr lang="en-US" altLang="fa-IR" sz="2400" dirty="0" smtClean="0"/>
          </a:p>
        </p:txBody>
      </p:sp>
      <p:pic>
        <p:nvPicPr>
          <p:cNvPr id="3076" name="Picture 4" descr="See the sourc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836712"/>
            <a:ext cx="4716016" cy="602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56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B774695-CDEB-44F8-BD8F-78F4D6F722A6}" type="slidenum">
              <a:rPr lang="fa-IR" altLang="fa-IR" sz="1400">
                <a:solidFill>
                  <a:schemeClr val="bg1"/>
                </a:solidFill>
              </a:rPr>
              <a:pPr/>
              <a:t>2</a:t>
            </a:fld>
            <a:endParaRPr lang="en-US" altLang="fa-IR" sz="1400">
              <a:solidFill>
                <a:schemeClr val="bg1"/>
              </a:solidFill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fa-IR" dirty="0" smtClean="0"/>
              <a:t>Topics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fa-IR" dirty="0" smtClean="0">
                <a:latin typeface="Arial" charset="0"/>
                <a:cs typeface="Arial" charset="0"/>
              </a:rPr>
              <a:t>Microprocessors vs. Microcontrollers </a:t>
            </a:r>
          </a:p>
          <a:p>
            <a:pPr>
              <a:lnSpc>
                <a:spcPct val="200000"/>
              </a:lnSpc>
            </a:pPr>
            <a:r>
              <a:rPr lang="en-US" altLang="fa-IR" dirty="0" smtClean="0">
                <a:latin typeface="Arial" charset="0"/>
                <a:cs typeface="Arial" charset="0"/>
              </a:rPr>
              <a:t>Most common microcontrollers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fa-IR" dirty="0" smtClean="0">
                <a:latin typeface="Arial" charset="0"/>
                <a:cs typeface="Arial" charset="0"/>
              </a:rPr>
              <a:t>AVR Features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fa-IR" dirty="0" smtClean="0">
                <a:latin typeface="Arial" charset="0"/>
                <a:cs typeface="Arial" charset="0"/>
              </a:rPr>
              <a:t>AVR members</a:t>
            </a:r>
          </a:p>
          <a:p>
            <a:pPr eaLnBrk="1" hangingPunct="1"/>
            <a:endParaRPr lang="en-US" altLang="fa-IR" dirty="0" smtClean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27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B4C26D8-2E8D-45FB-A7FF-EF4CEB74668F}" type="slidenum">
              <a:rPr lang="fa-IR" altLang="fa-IR" sz="1400">
                <a:solidFill>
                  <a:schemeClr val="bg1"/>
                </a:solidFill>
              </a:rPr>
              <a:pPr/>
              <a:t>3</a:t>
            </a:fld>
            <a:endParaRPr lang="en-US" altLang="fa-IR" sz="1400">
              <a:solidFill>
                <a:schemeClr val="bg1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35769" y="260648"/>
            <a:ext cx="82296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fa-IR" sz="2800" dirty="0" smtClean="0"/>
              <a:t>Microprocessors vs. Microcontrollers</a:t>
            </a:r>
          </a:p>
        </p:txBody>
      </p:sp>
      <p:sp>
        <p:nvSpPr>
          <p:cNvPr id="8198" name="Rectangle 45"/>
          <p:cNvSpPr>
            <a:spLocks noGrp="1" noChangeArrowheads="1"/>
          </p:cNvSpPr>
          <p:nvPr>
            <p:ph type="body" idx="1"/>
          </p:nvPr>
        </p:nvSpPr>
        <p:spPr>
          <a:xfrm>
            <a:off x="347212" y="1196752"/>
            <a:ext cx="8424862" cy="576262"/>
          </a:xfrm>
          <a:noFill/>
        </p:spPr>
        <p:txBody>
          <a:bodyPr/>
          <a:lstStyle/>
          <a:p>
            <a:r>
              <a:rPr lang="en-US" altLang="fa-IR" sz="2400" i="1" dirty="0" smtClean="0">
                <a:latin typeface="Arial" charset="0"/>
                <a:cs typeface="Arial" charset="0"/>
              </a:rPr>
              <a:t>Microprocessors (</a:t>
            </a:r>
            <a:r>
              <a:rPr lang="en-US" altLang="fa-IR" dirty="0"/>
              <a:t>General </a:t>
            </a:r>
            <a:r>
              <a:rPr lang="en-US" altLang="fa-IR" dirty="0" smtClean="0"/>
              <a:t>Purpose)</a:t>
            </a:r>
            <a:endParaRPr lang="en-US" altLang="fa-IR" sz="2400" i="1" dirty="0" smtClean="0">
              <a:latin typeface="Arial" charset="0"/>
              <a:cs typeface="Arial" charset="0"/>
            </a:endParaRPr>
          </a:p>
        </p:txBody>
      </p:sp>
      <p:sp>
        <p:nvSpPr>
          <p:cNvPr id="8199" name="Rectangle 46"/>
          <p:cNvSpPr>
            <a:spLocks noChangeArrowheads="1"/>
          </p:cNvSpPr>
          <p:nvPr/>
        </p:nvSpPr>
        <p:spPr bwMode="auto">
          <a:xfrm>
            <a:off x="338138" y="3460750"/>
            <a:ext cx="84248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altLang="fa-IR" sz="2400" i="1" dirty="0"/>
              <a:t>Microcontrollers</a:t>
            </a:r>
          </a:p>
        </p:txBody>
      </p:sp>
      <p:pic>
        <p:nvPicPr>
          <p:cNvPr id="8238" name="Picture 46" descr="microprocessor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717675"/>
            <a:ext cx="514350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39" name="Picture 47" descr="microcontroller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3890963"/>
            <a:ext cx="5240338" cy="256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3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Microcontroller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746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fa-IR" sz="2400" dirty="0" smtClean="0">
                <a:latin typeface="Arial" charset="0"/>
                <a:cs typeface="Arial" charset="0"/>
              </a:rPr>
              <a:t> Microcontrollers are important part of Embedded  </a:t>
            </a:r>
          </a:p>
          <a:p>
            <a:r>
              <a:rPr lang="en-US" altLang="fa-IR" sz="2400" dirty="0" smtClean="0">
                <a:latin typeface="Arial" charset="0"/>
                <a:cs typeface="Arial" charset="0"/>
              </a:rPr>
              <a:t>  Systems</a:t>
            </a:r>
          </a:p>
          <a:p>
            <a:pPr>
              <a:buFont typeface="Arial" pitchFamily="34" charset="0"/>
              <a:buChar char="•"/>
            </a:pPr>
            <a:r>
              <a:rPr lang="en-US" altLang="fa-IR" sz="2400" dirty="0" smtClean="0">
                <a:latin typeface="Arial" charset="0"/>
                <a:cs typeface="Arial" charset="0"/>
              </a:rPr>
              <a:t> To understand structure and working of        </a:t>
            </a:r>
          </a:p>
          <a:p>
            <a:r>
              <a:rPr lang="en-US" altLang="fa-IR" sz="2400" dirty="0" smtClean="0">
                <a:latin typeface="Arial" charset="0"/>
                <a:cs typeface="Arial" charset="0"/>
              </a:rPr>
              <a:t>   microcontroller</a:t>
            </a:r>
          </a:p>
          <a:p>
            <a:pPr>
              <a:buFont typeface="Arial" pitchFamily="34" charset="0"/>
              <a:buChar char="•"/>
            </a:pPr>
            <a:r>
              <a:rPr lang="en-US" altLang="fa-IR" sz="2400" dirty="0" smtClean="0">
                <a:latin typeface="Arial" charset="0"/>
                <a:cs typeface="Arial" charset="0"/>
              </a:rPr>
              <a:t> For designing good Embedded system complete </a:t>
            </a:r>
          </a:p>
          <a:p>
            <a:r>
              <a:rPr lang="en-US" altLang="fa-IR" sz="2400" dirty="0" smtClean="0">
                <a:latin typeface="Arial" charset="0"/>
                <a:cs typeface="Arial" charset="0"/>
              </a:rPr>
              <a:t>   understanding of microcontrollers is required.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Microcontroller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Integrated chip that typically contains integrated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CPU, memory(RAM,ROM),I/O ports </a:t>
            </a:r>
            <a:r>
              <a:rPr lang="en-US" dirty="0" smtClean="0"/>
              <a:t>on a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single chip</a:t>
            </a:r>
          </a:p>
          <a:p>
            <a:endParaRPr lang="en-US" dirty="0" smtClean="0"/>
          </a:p>
          <a:p>
            <a:r>
              <a:rPr lang="en-US" dirty="0" smtClean="0"/>
              <a:t>Basically system on chip</a:t>
            </a:r>
          </a:p>
          <a:p>
            <a:endParaRPr lang="en-US" dirty="0" smtClean="0"/>
          </a:p>
          <a:p>
            <a:r>
              <a:rPr lang="en-US" dirty="0" smtClean="0"/>
              <a:t>Designed to execute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specific task </a:t>
            </a:r>
            <a:r>
              <a:rPr lang="en-US" dirty="0" smtClean="0"/>
              <a:t>to control a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single system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AVR Microcontroller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AVR stands for  Advanced Virtual RISC</a:t>
            </a:r>
          </a:p>
          <a:p>
            <a:pPr lvl="1">
              <a:buNone/>
            </a:pPr>
            <a:r>
              <a:rPr lang="en-US" dirty="0" smtClean="0"/>
              <a:t>the founders are </a:t>
            </a:r>
            <a:r>
              <a:rPr lang="en-US" sz="1800" spc="-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dirty="0" smtClean="0"/>
              <a:t>lf </a:t>
            </a:r>
            <a:r>
              <a:rPr lang="en-US" dirty="0" err="1" smtClean="0"/>
              <a:t>Egil</a:t>
            </a:r>
            <a:r>
              <a:rPr lang="en-US" dirty="0" smtClean="0"/>
              <a:t> </a:t>
            </a:r>
            <a:r>
              <a:rPr lang="en-US" dirty="0" err="1" smtClean="0"/>
              <a:t>bogen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V</a:t>
            </a:r>
            <a:r>
              <a:rPr lang="en-US" dirty="0" err="1" smtClean="0"/>
              <a:t>egard</a:t>
            </a:r>
            <a:r>
              <a:rPr lang="en-US" dirty="0" smtClean="0"/>
              <a:t> </a:t>
            </a:r>
            <a:r>
              <a:rPr lang="en-US" dirty="0" err="1" smtClean="0"/>
              <a:t>wollen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RISC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/>
              <a:t>AVR architecture was conceived by two students at Norwegian institute of Technology and further refined by </a:t>
            </a:r>
            <a:r>
              <a:rPr lang="en-US" dirty="0" smtClean="0">
                <a:solidFill>
                  <a:schemeClr val="tx2"/>
                </a:solidFill>
              </a:rPr>
              <a:t>Atmel</a:t>
            </a:r>
            <a:r>
              <a:rPr lang="en-US" dirty="0" smtClean="0"/>
              <a:t> Norway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RISC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Fast execution of instructions due to simple instructions for CPU</a:t>
            </a:r>
          </a:p>
          <a:p>
            <a:r>
              <a:rPr lang="en-US" dirty="0" smtClean="0"/>
              <a:t>RISC requires fewer transistor  which makes the design cheaper.</a:t>
            </a:r>
          </a:p>
          <a:p>
            <a:r>
              <a:rPr lang="en-US" dirty="0" smtClean="0"/>
              <a:t>Emphasis on software</a:t>
            </a:r>
          </a:p>
          <a:p>
            <a:r>
              <a:rPr lang="en-US" dirty="0" smtClean="0"/>
              <a:t>Single </a:t>
            </a:r>
            <a:r>
              <a:rPr lang="en-US" dirty="0" smtClean="0"/>
              <a:t>clock </a:t>
            </a:r>
            <a:r>
              <a:rPr lang="en-US" dirty="0" smtClean="0"/>
              <a:t>instructions only</a:t>
            </a:r>
          </a:p>
          <a:p>
            <a:r>
              <a:rPr lang="en-US" dirty="0" smtClean="0"/>
              <a:t>Register to Register: LOAD and STORE are independent instructions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AVR Microcontroller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series of 8-bit RISC microcontrollers from Atmel.</a:t>
            </a:r>
          </a:p>
          <a:p>
            <a:endParaRPr lang="en-US" dirty="0" smtClean="0"/>
          </a:p>
          <a:p>
            <a:r>
              <a:rPr lang="en-US" dirty="0" smtClean="0"/>
              <a:t>All AVR microcontroller share same instruction set basic CPU(Harvard) architecture</a:t>
            </a:r>
          </a:p>
          <a:p>
            <a:endParaRPr lang="en-US" dirty="0" smtClean="0"/>
          </a:p>
          <a:p>
            <a:r>
              <a:rPr lang="en-US" dirty="0" smtClean="0"/>
              <a:t>It has 32, 8bit general purpose registers.</a:t>
            </a:r>
          </a:p>
          <a:p>
            <a:endParaRPr lang="en-US" dirty="0" smtClean="0"/>
          </a:p>
          <a:p>
            <a:r>
              <a:rPr lang="en-US" dirty="0" smtClean="0"/>
              <a:t>Mostly instructions </a:t>
            </a:r>
            <a:r>
              <a:rPr lang="en-US" smtClean="0"/>
              <a:t>get </a:t>
            </a:r>
            <a:r>
              <a:rPr lang="en-US" smtClean="0"/>
              <a:t>executed </a:t>
            </a:r>
            <a:r>
              <a:rPr lang="en-US" dirty="0" smtClean="0"/>
              <a:t>in single cycle.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8B4C26D8-2E8D-45FB-A7FF-EF4CEB74668F}" type="slidenum">
              <a:rPr lang="fa-IR" altLang="fa-IR" sz="1400">
                <a:solidFill>
                  <a:schemeClr val="bg1"/>
                </a:solidFill>
              </a:rPr>
              <a:pPr/>
              <a:t>9</a:t>
            </a:fld>
            <a:endParaRPr lang="en-US" altLang="fa-IR" sz="1400">
              <a:solidFill>
                <a:schemeClr val="bg1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35769" y="260648"/>
            <a:ext cx="8229600" cy="990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fa-IR" sz="2800" dirty="0" smtClean="0"/>
              <a:t>AVR Which you have already learnt </a:t>
            </a:r>
          </a:p>
        </p:txBody>
      </p:sp>
      <p:pic>
        <p:nvPicPr>
          <p:cNvPr id="4100" name="Picture 4" descr="See the sourc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7"/>
            <a:ext cx="4904668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220072" y="1196752"/>
            <a:ext cx="388843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Operating Voltage: 5V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Input Voltage	: 7v </a:t>
            </a:r>
            <a:r>
              <a:rPr lang="en-GB" dirty="0">
                <a:latin typeface="Arial" pitchFamily="34" charset="0"/>
                <a:cs typeface="Arial" pitchFamily="34" charset="0"/>
              </a:rPr>
              <a:t>to 12V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14 Digital I/O pins 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6 </a:t>
            </a:r>
            <a:r>
              <a:rPr lang="en-GB" dirty="0" err="1" smtClean="0">
                <a:latin typeface="Arial" pitchFamily="34" charset="0"/>
                <a:cs typeface="Arial" pitchFamily="34" charset="0"/>
              </a:rPr>
              <a:t>Analog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dirty="0">
                <a:latin typeface="Arial" pitchFamily="34" charset="0"/>
                <a:cs typeface="Arial" pitchFamily="34" charset="0"/>
              </a:rPr>
              <a:t>I/O pins 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 smtClean="0">
                <a:latin typeface="Arial" pitchFamily="34" charset="0"/>
                <a:cs typeface="Arial" pitchFamily="34" charset="0"/>
              </a:rPr>
              <a:t>Flash </a:t>
            </a:r>
            <a:r>
              <a:rPr lang="en-GB" dirty="0">
                <a:latin typeface="Arial" pitchFamily="34" charset="0"/>
                <a:cs typeface="Arial" pitchFamily="34" charset="0"/>
              </a:rPr>
              <a:t>Memory is 32 KB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SRAM is 2 KB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EEPROM is 1 KB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CLK Speed is 16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MHz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DC Current for I/O pins is 40 mA</a:t>
            </a:r>
          </a:p>
          <a:p>
            <a:pPr marL="285750" indent="-285750" fontAlgn="base">
              <a:lnSpc>
                <a:spcPct val="200000"/>
              </a:lnSpc>
              <a:buFont typeface="Arial" pitchFamily="34" charset="0"/>
              <a:buChar char="•"/>
            </a:pPr>
            <a:r>
              <a:rPr lang="en-GB" dirty="0">
                <a:latin typeface="Arial" pitchFamily="34" charset="0"/>
                <a:cs typeface="Arial" pitchFamily="34" charset="0"/>
              </a:rPr>
              <a:t>DC Current for 3.3V Pin is 50 </a:t>
            </a:r>
            <a:r>
              <a:rPr lang="en-GB" dirty="0" smtClean="0">
                <a:latin typeface="Arial" pitchFamily="34" charset="0"/>
                <a:cs typeface="Arial" pitchFamily="34" charset="0"/>
              </a:rPr>
              <a:t>mA</a:t>
            </a: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102" name="Picture 6" descr="See the source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4664"/>
            <a:ext cx="1926794" cy="100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18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DE8F3D9D-4477-4694-BFF4-8BE930625ED7}" type="slidenum">
              <a:rPr lang="fa-IR" altLang="fa-IR" sz="1400">
                <a:solidFill>
                  <a:schemeClr val="bg1"/>
                </a:solidFill>
              </a:rPr>
              <a:pPr/>
              <a:t>10</a:t>
            </a:fld>
            <a:endParaRPr lang="en-US" altLang="fa-IR" sz="1400">
              <a:solidFill>
                <a:schemeClr val="bg1"/>
              </a:solidFill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fa-IR" dirty="0" smtClean="0"/>
              <a:t>AVR Types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fa-IR" dirty="0" smtClean="0">
                <a:latin typeface="Arial" charset="0"/>
                <a:cs typeface="Arial" charset="0"/>
              </a:rPr>
              <a:t>Classic AVR</a:t>
            </a:r>
          </a:p>
          <a:p>
            <a:pPr lvl="1" eaLnBrk="1" hangingPunct="1"/>
            <a:r>
              <a:rPr lang="en-US" altLang="fa-IR" dirty="0" smtClean="0">
                <a:latin typeface="Arial" charset="0"/>
                <a:cs typeface="Arial" charset="0"/>
              </a:rPr>
              <a:t>e.g. AT90S2313, AT90S4433</a:t>
            </a:r>
          </a:p>
          <a:p>
            <a:pPr eaLnBrk="1" hangingPunct="1"/>
            <a:r>
              <a:rPr lang="en-US" altLang="fa-IR" dirty="0" smtClean="0">
                <a:latin typeface="Arial" charset="0"/>
                <a:cs typeface="Arial" charset="0"/>
              </a:rPr>
              <a:t>Mega</a:t>
            </a:r>
          </a:p>
          <a:p>
            <a:pPr lvl="1" eaLnBrk="1" hangingPunct="1"/>
            <a:r>
              <a:rPr lang="en-US" altLang="fa-IR" dirty="0" smtClean="0">
                <a:latin typeface="Arial" charset="0"/>
                <a:cs typeface="Arial" charset="0"/>
              </a:rPr>
              <a:t>e.g. ATmega328, ATmega32, ATmega128</a:t>
            </a:r>
          </a:p>
          <a:p>
            <a:pPr eaLnBrk="1" hangingPunct="1"/>
            <a:r>
              <a:rPr lang="en-US" altLang="fa-IR" dirty="0" smtClean="0">
                <a:latin typeface="Arial" charset="0"/>
                <a:cs typeface="Arial" charset="0"/>
              </a:rPr>
              <a:t>Tiny</a:t>
            </a:r>
          </a:p>
          <a:p>
            <a:pPr lvl="1" eaLnBrk="1" hangingPunct="1"/>
            <a:r>
              <a:rPr lang="en-US" altLang="fa-IR" dirty="0" smtClean="0">
                <a:latin typeface="Arial" charset="0"/>
                <a:cs typeface="Arial" charset="0"/>
              </a:rPr>
              <a:t>e.g. ATtiny13, ATtiny25</a:t>
            </a:r>
          </a:p>
          <a:p>
            <a:pPr eaLnBrk="1" hangingPunct="1"/>
            <a:r>
              <a:rPr lang="en-US" altLang="fa-IR" dirty="0" smtClean="0">
                <a:latin typeface="Arial" charset="0"/>
                <a:cs typeface="Arial" charset="0"/>
              </a:rPr>
              <a:t>Special Purpose AVR</a:t>
            </a:r>
          </a:p>
          <a:p>
            <a:pPr lvl="1" eaLnBrk="1" hangingPunct="1"/>
            <a:r>
              <a:rPr lang="en-US" altLang="fa-IR" dirty="0" smtClean="0">
                <a:latin typeface="Arial" charset="0"/>
                <a:cs typeface="Arial" charset="0"/>
              </a:rPr>
              <a:t>e.g. AT90PWM216,AT90USB1287</a:t>
            </a:r>
          </a:p>
          <a:p>
            <a:pPr eaLnBrk="1" hangingPunct="1"/>
            <a:r>
              <a:rPr lang="en-US" altLang="fa-IR" dirty="0" err="1" smtClean="0">
                <a:latin typeface="Arial" charset="0"/>
                <a:cs typeface="Arial" charset="0"/>
              </a:rPr>
              <a:t>XMega</a:t>
            </a:r>
            <a:endParaRPr lang="en-US" altLang="fa-IR" dirty="0" smtClean="0">
              <a:latin typeface="Arial" charset="0"/>
              <a:cs typeface="Arial" charset="0"/>
            </a:endParaRPr>
          </a:p>
          <a:p>
            <a:pPr lvl="1" eaLnBrk="1" hangingPunct="1"/>
            <a:r>
              <a:rPr lang="en-US" altLang="fa-IR" dirty="0" smtClean="0">
                <a:latin typeface="Arial" charset="0"/>
                <a:cs typeface="Arial" charset="0"/>
              </a:rPr>
              <a:t>New features like DMA, DAC, crypto engine, etc.</a:t>
            </a:r>
          </a:p>
        </p:txBody>
      </p:sp>
    </p:spTree>
    <p:extLst>
      <p:ext uri="{BB962C8B-B14F-4D97-AF65-F5344CB8AC3E}">
        <p14:creationId xmlns:p14="http://schemas.microsoft.com/office/powerpoint/2010/main" val="58973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AVR internal architecture</a:t>
            </a: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701800" y="2216150"/>
          <a:ext cx="5740400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Visio" r:id="rId3" imgW="5740587" imgH="3645228" progId="">
                  <p:embed/>
                </p:oleObj>
              </mc:Choice>
              <mc:Fallback>
                <p:oleObj name="Visio" r:id="rId3" imgW="5740587" imgH="3645228" progId="">
                  <p:embed/>
                  <p:pic>
                    <p:nvPicPr>
                      <p:cNvPr id="0" name="Picture 7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2216150"/>
                        <a:ext cx="5740400" cy="364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1317105"/>
            <a:ext cx="7681912" cy="5280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660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AVR’s CPU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09550" y="1324256"/>
            <a:ext cx="4094163" cy="5381625"/>
          </a:xfrm>
        </p:spPr>
        <p:txBody>
          <a:bodyPr/>
          <a:lstStyle/>
          <a:p>
            <a:pPr eaLnBrk="1" hangingPunct="1"/>
            <a:r>
              <a:rPr lang="en-US" dirty="0" smtClean="0"/>
              <a:t>AVR’s CPU</a:t>
            </a:r>
          </a:p>
          <a:p>
            <a:pPr lvl="1" eaLnBrk="1" hangingPunct="1"/>
            <a:r>
              <a:rPr lang="en-US" dirty="0" smtClean="0"/>
              <a:t>It’s an 8-bit Microcontroller</a:t>
            </a:r>
          </a:p>
          <a:p>
            <a:pPr lvl="1" eaLnBrk="1" hangingPunct="1"/>
            <a:r>
              <a:rPr lang="en-US" dirty="0" smtClean="0"/>
              <a:t>ALU</a:t>
            </a:r>
          </a:p>
          <a:p>
            <a:pPr lvl="1" eaLnBrk="1" hangingPunct="1"/>
            <a:r>
              <a:rPr lang="en-US" dirty="0" smtClean="0"/>
              <a:t>32 General Purpose registers (R0 to R31)</a:t>
            </a:r>
          </a:p>
          <a:p>
            <a:pPr lvl="1" eaLnBrk="1" hangingPunct="1"/>
            <a:r>
              <a:rPr lang="en-US" dirty="0" smtClean="0"/>
              <a:t>PC register</a:t>
            </a:r>
          </a:p>
          <a:p>
            <a:pPr lvl="1" eaLnBrk="1" hangingPunct="1"/>
            <a:r>
              <a:rPr lang="en-US" dirty="0" smtClean="0"/>
              <a:t>Instruction decoder</a:t>
            </a:r>
          </a:p>
          <a:p>
            <a:pPr lvl="1" eaLnBrk="1" hangingPunct="1"/>
            <a:endParaRPr lang="en-US" dirty="0" smtClean="0"/>
          </a:p>
          <a:p>
            <a:pPr lvl="1" eaLnBrk="1" hangingPunct="1">
              <a:buFont typeface="Wingdings" pitchFamily="2" charset="2"/>
              <a:buNone/>
            </a:pPr>
            <a:endParaRPr lang="en-US" dirty="0" smtClean="0"/>
          </a:p>
          <a:p>
            <a:pPr lvl="1" eaLnBrk="1" hangingPunct="1"/>
            <a:endParaRPr lang="en-US" dirty="0" smtClean="0"/>
          </a:p>
          <a:p>
            <a:pPr lvl="1" eaLnBrk="1" hangingPunct="1">
              <a:buFont typeface="Wingdings" pitchFamily="2" charset="2"/>
              <a:buNone/>
            </a:pPr>
            <a:endParaRPr lang="en-US" dirty="0" smtClean="0"/>
          </a:p>
        </p:txBody>
      </p:sp>
      <p:grpSp>
        <p:nvGrpSpPr>
          <p:cNvPr id="16388" name="Group 208"/>
          <p:cNvGrpSpPr>
            <a:grpSpLocks/>
          </p:cNvGrpSpPr>
          <p:nvPr/>
        </p:nvGrpSpPr>
        <p:grpSpPr bwMode="auto">
          <a:xfrm>
            <a:off x="4303713" y="1951038"/>
            <a:ext cx="4611687" cy="4521200"/>
            <a:chOff x="3296" y="1823"/>
            <a:chExt cx="2320" cy="2254"/>
          </a:xfrm>
        </p:grpSpPr>
        <p:sp>
          <p:nvSpPr>
            <p:cNvPr id="16389" name="Rectangle 209"/>
            <p:cNvSpPr>
              <a:spLocks noChangeArrowheads="1"/>
            </p:cNvSpPr>
            <p:nvPr/>
          </p:nvSpPr>
          <p:spPr bwMode="auto">
            <a:xfrm>
              <a:off x="3296" y="1823"/>
              <a:ext cx="2320" cy="2254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4800">
                  <a:solidFill>
                    <a:srgbClr val="000000"/>
                  </a:solidFill>
                </a:rPr>
                <a:t>CPU</a:t>
              </a:r>
            </a:p>
          </p:txBody>
        </p:sp>
        <p:sp>
          <p:nvSpPr>
            <p:cNvPr id="16390" name="Rectangle 210"/>
            <p:cNvSpPr>
              <a:spLocks noChangeArrowheads="1"/>
            </p:cNvSpPr>
            <p:nvPr/>
          </p:nvSpPr>
          <p:spPr bwMode="auto">
            <a:xfrm>
              <a:off x="3634" y="3203"/>
              <a:ext cx="977" cy="158"/>
            </a:xfrm>
            <a:prstGeom prst="rect">
              <a:avLst/>
            </a:prstGeom>
            <a:solidFill>
              <a:srgbClr val="F4EE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PC</a:t>
              </a:r>
            </a:p>
          </p:txBody>
        </p:sp>
        <p:sp>
          <p:nvSpPr>
            <p:cNvPr id="16391" name="Rectangle 211"/>
            <p:cNvSpPr>
              <a:spLocks noChangeArrowheads="1"/>
            </p:cNvSpPr>
            <p:nvPr/>
          </p:nvSpPr>
          <p:spPr bwMode="auto">
            <a:xfrm>
              <a:off x="3428" y="1987"/>
              <a:ext cx="754" cy="598"/>
            </a:xfrm>
            <a:prstGeom prst="rect">
              <a:avLst/>
            </a:prstGeom>
            <a:solidFill>
              <a:srgbClr val="33CC33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000000"/>
                  </a:solidFill>
                </a:rPr>
                <a:t>ALU</a:t>
              </a:r>
            </a:p>
          </p:txBody>
        </p:sp>
        <p:sp>
          <p:nvSpPr>
            <p:cNvPr id="16392" name="Rectangle 212"/>
            <p:cNvSpPr>
              <a:spLocks noChangeArrowheads="1"/>
            </p:cNvSpPr>
            <p:nvPr/>
          </p:nvSpPr>
          <p:spPr bwMode="auto">
            <a:xfrm>
              <a:off x="4858" y="1982"/>
              <a:ext cx="663" cy="1949"/>
            </a:xfrm>
            <a:prstGeom prst="rect">
              <a:avLst/>
            </a:prstGeom>
            <a:solidFill>
              <a:srgbClr val="4E91A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393" name="Text Box 213"/>
            <p:cNvSpPr txBox="1">
              <a:spLocks noChangeArrowheads="1"/>
            </p:cNvSpPr>
            <p:nvPr/>
          </p:nvSpPr>
          <p:spPr bwMode="auto">
            <a:xfrm>
              <a:off x="4864" y="3781"/>
              <a:ext cx="658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200" b="1">
                  <a:solidFill>
                    <a:srgbClr val="000000"/>
                  </a:solidFill>
                </a:rPr>
                <a:t>registers</a:t>
              </a:r>
            </a:p>
          </p:txBody>
        </p:sp>
        <p:grpSp>
          <p:nvGrpSpPr>
            <p:cNvPr id="16394" name="Group 214"/>
            <p:cNvGrpSpPr>
              <a:grpSpLocks/>
            </p:cNvGrpSpPr>
            <p:nvPr/>
          </p:nvGrpSpPr>
          <p:grpSpPr bwMode="auto">
            <a:xfrm>
              <a:off x="4928" y="2040"/>
              <a:ext cx="516" cy="1695"/>
              <a:chOff x="4410" y="2694"/>
              <a:chExt cx="641" cy="1337"/>
            </a:xfrm>
          </p:grpSpPr>
          <p:sp>
            <p:nvSpPr>
              <p:cNvPr id="16419" name="Rectangle 215"/>
              <p:cNvSpPr>
                <a:spLocks noChangeArrowheads="1"/>
              </p:cNvSpPr>
              <p:nvPr/>
            </p:nvSpPr>
            <p:spPr bwMode="auto">
              <a:xfrm>
                <a:off x="4410" y="2806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R1</a:t>
                </a:r>
              </a:p>
            </p:txBody>
          </p:sp>
          <p:sp>
            <p:nvSpPr>
              <p:cNvPr id="16420" name="Rectangle 216"/>
              <p:cNvSpPr>
                <a:spLocks noChangeArrowheads="1"/>
              </p:cNvSpPr>
              <p:nvPr/>
            </p:nvSpPr>
            <p:spPr bwMode="auto">
              <a:xfrm>
                <a:off x="4410" y="2694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R0</a:t>
                </a:r>
              </a:p>
            </p:txBody>
          </p:sp>
          <p:sp>
            <p:nvSpPr>
              <p:cNvPr id="16421" name="Rectangle 217"/>
              <p:cNvSpPr>
                <a:spLocks noChangeArrowheads="1"/>
              </p:cNvSpPr>
              <p:nvPr/>
            </p:nvSpPr>
            <p:spPr bwMode="auto">
              <a:xfrm>
                <a:off x="4410" y="324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R15</a:t>
                </a:r>
              </a:p>
            </p:txBody>
          </p:sp>
          <p:sp>
            <p:nvSpPr>
              <p:cNvPr id="16422" name="Rectangle 218"/>
              <p:cNvSpPr>
                <a:spLocks noChangeArrowheads="1"/>
              </p:cNvSpPr>
              <p:nvPr/>
            </p:nvSpPr>
            <p:spPr bwMode="auto">
              <a:xfrm>
                <a:off x="4410" y="2917"/>
                <a:ext cx="641" cy="111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R2</a:t>
                </a:r>
              </a:p>
            </p:txBody>
          </p:sp>
          <p:sp>
            <p:nvSpPr>
              <p:cNvPr id="16423" name="Line 219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24" name="Line 220"/>
              <p:cNvSpPr>
                <a:spLocks noChangeShapeType="1"/>
              </p:cNvSpPr>
              <p:nvPr/>
            </p:nvSpPr>
            <p:spPr bwMode="auto">
              <a:xfrm>
                <a:off x="5051" y="2694"/>
                <a:ext cx="0" cy="12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25" name="Line 221"/>
              <p:cNvSpPr>
                <a:spLocks noChangeShapeType="1"/>
              </p:cNvSpPr>
              <p:nvPr/>
            </p:nvSpPr>
            <p:spPr bwMode="auto">
              <a:xfrm>
                <a:off x="4410" y="2694"/>
                <a:ext cx="64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426" name="Group 222"/>
              <p:cNvGrpSpPr>
                <a:grpSpLocks/>
              </p:cNvGrpSpPr>
              <p:nvPr/>
            </p:nvGrpSpPr>
            <p:grpSpPr bwMode="auto">
              <a:xfrm>
                <a:off x="4410" y="3028"/>
                <a:ext cx="641" cy="224"/>
                <a:chOff x="4410" y="3028"/>
                <a:chExt cx="641" cy="224"/>
              </a:xfrm>
            </p:grpSpPr>
            <p:sp>
              <p:nvSpPr>
                <p:cNvPr id="16434" name="Rectangle 223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35" name="Text Box 224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88" y="3036"/>
                  <a:ext cx="222" cy="2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600" b="1">
                      <a:solidFill>
                        <a:srgbClr val="000000"/>
                      </a:solidFill>
                    </a:rPr>
                    <a:t>…</a:t>
                  </a:r>
                </a:p>
              </p:txBody>
            </p:sp>
          </p:grpSp>
          <p:sp>
            <p:nvSpPr>
              <p:cNvPr id="16427" name="Rectangle 225"/>
              <p:cNvSpPr>
                <a:spLocks noChangeArrowheads="1"/>
              </p:cNvSpPr>
              <p:nvPr/>
            </p:nvSpPr>
            <p:spPr bwMode="auto">
              <a:xfrm>
                <a:off x="4410" y="3361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R16</a:t>
                </a:r>
              </a:p>
            </p:txBody>
          </p:sp>
          <p:sp>
            <p:nvSpPr>
              <p:cNvPr id="16428" name="Rectangle 226"/>
              <p:cNvSpPr>
                <a:spLocks noChangeArrowheads="1"/>
              </p:cNvSpPr>
              <p:nvPr/>
            </p:nvSpPr>
            <p:spPr bwMode="auto">
              <a:xfrm>
                <a:off x="4410" y="3473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R17</a:t>
                </a:r>
              </a:p>
            </p:txBody>
          </p:sp>
          <p:grpSp>
            <p:nvGrpSpPr>
              <p:cNvPr id="16429" name="Group 227"/>
              <p:cNvGrpSpPr>
                <a:grpSpLocks/>
              </p:cNvGrpSpPr>
              <p:nvPr/>
            </p:nvGrpSpPr>
            <p:grpSpPr bwMode="auto">
              <a:xfrm>
                <a:off x="4410" y="3586"/>
                <a:ext cx="641" cy="222"/>
                <a:chOff x="4410" y="3028"/>
                <a:chExt cx="641" cy="222"/>
              </a:xfrm>
            </p:grpSpPr>
            <p:sp>
              <p:nvSpPr>
                <p:cNvPr id="16432" name="Rectangle 228"/>
                <p:cNvSpPr>
                  <a:spLocks noChangeArrowheads="1"/>
                </p:cNvSpPr>
                <p:nvPr/>
              </p:nvSpPr>
              <p:spPr bwMode="auto">
                <a:xfrm>
                  <a:off x="4410" y="3028"/>
                  <a:ext cx="641" cy="222"/>
                </a:xfrm>
                <a:prstGeom prst="rect">
                  <a:avLst/>
                </a:prstGeom>
                <a:solidFill>
                  <a:srgbClr val="BD3754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4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33" name="Text Box 229"/>
                <p:cNvSpPr txBox="1">
                  <a:spLocks noChangeArrowheads="1"/>
                </p:cNvSpPr>
                <p:nvPr/>
              </p:nvSpPr>
              <p:spPr bwMode="auto">
                <a:xfrm rot="5400000">
                  <a:off x="4688" y="3034"/>
                  <a:ext cx="222" cy="2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600" b="1">
                      <a:solidFill>
                        <a:srgbClr val="000000"/>
                      </a:solidFill>
                    </a:rPr>
                    <a:t>…</a:t>
                  </a:r>
                </a:p>
              </p:txBody>
            </p:sp>
          </p:grpSp>
          <p:sp>
            <p:nvSpPr>
              <p:cNvPr id="16430" name="Rectangle 230"/>
              <p:cNvSpPr>
                <a:spLocks noChangeArrowheads="1"/>
              </p:cNvSpPr>
              <p:nvPr/>
            </p:nvSpPr>
            <p:spPr bwMode="auto">
              <a:xfrm>
                <a:off x="4410" y="3807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R30</a:t>
                </a:r>
              </a:p>
            </p:txBody>
          </p:sp>
          <p:sp>
            <p:nvSpPr>
              <p:cNvPr id="16431" name="Rectangle 231"/>
              <p:cNvSpPr>
                <a:spLocks noChangeArrowheads="1"/>
              </p:cNvSpPr>
              <p:nvPr/>
            </p:nvSpPr>
            <p:spPr bwMode="auto">
              <a:xfrm>
                <a:off x="4410" y="3919"/>
                <a:ext cx="641" cy="112"/>
              </a:xfrm>
              <a:prstGeom prst="rect">
                <a:avLst/>
              </a:prstGeom>
              <a:solidFill>
                <a:srgbClr val="BD3754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>
                    <a:solidFill>
                      <a:srgbClr val="000000"/>
                    </a:solidFill>
                  </a:rPr>
                  <a:t>R31</a:t>
                </a:r>
              </a:p>
            </p:txBody>
          </p:sp>
        </p:grpSp>
        <p:sp>
          <p:nvSpPr>
            <p:cNvPr id="16395" name="Rectangle 232"/>
            <p:cNvSpPr>
              <a:spLocks noChangeArrowheads="1"/>
            </p:cNvSpPr>
            <p:nvPr/>
          </p:nvSpPr>
          <p:spPr bwMode="auto">
            <a:xfrm>
              <a:off x="3411" y="3483"/>
              <a:ext cx="1392" cy="448"/>
            </a:xfrm>
            <a:prstGeom prst="rect">
              <a:avLst/>
            </a:prstGeom>
            <a:solidFill>
              <a:srgbClr val="BA8A44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b="1">
                <a:solidFill>
                  <a:srgbClr val="000000"/>
                </a:solidFill>
              </a:endParaRPr>
            </a:p>
          </p:txBody>
        </p:sp>
        <p:sp>
          <p:nvSpPr>
            <p:cNvPr id="16396" name="Rectangle 233"/>
            <p:cNvSpPr>
              <a:spLocks noChangeArrowheads="1"/>
            </p:cNvSpPr>
            <p:nvPr/>
          </p:nvSpPr>
          <p:spPr bwMode="auto">
            <a:xfrm>
              <a:off x="3723" y="3744"/>
              <a:ext cx="809" cy="121"/>
            </a:xfrm>
            <a:prstGeom prst="rect">
              <a:avLst/>
            </a:prstGeom>
            <a:solidFill>
              <a:srgbClr val="E4F39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000" b="1">
                  <a:solidFill>
                    <a:srgbClr val="000000"/>
                  </a:solidFill>
                </a:rPr>
                <a:t>Instruction Register</a:t>
              </a:r>
            </a:p>
          </p:txBody>
        </p:sp>
        <p:sp>
          <p:nvSpPr>
            <p:cNvPr id="16397" name="Text Box 234"/>
            <p:cNvSpPr txBox="1">
              <a:spLocks noChangeArrowheads="1"/>
            </p:cNvSpPr>
            <p:nvPr/>
          </p:nvSpPr>
          <p:spPr bwMode="auto">
            <a:xfrm>
              <a:off x="3439" y="3478"/>
              <a:ext cx="13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Instruction decoder</a:t>
              </a:r>
            </a:p>
          </p:txBody>
        </p:sp>
        <p:sp>
          <p:nvSpPr>
            <p:cNvPr id="16398" name="Text Box 235"/>
            <p:cNvSpPr txBox="1">
              <a:spLocks noChangeArrowheads="1"/>
            </p:cNvSpPr>
            <p:nvPr/>
          </p:nvSpPr>
          <p:spPr bwMode="auto">
            <a:xfrm>
              <a:off x="4285" y="2516"/>
              <a:ext cx="92" cy="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sz="1000">
                <a:solidFill>
                  <a:srgbClr val="000000"/>
                </a:solidFill>
              </a:endParaRPr>
            </a:p>
          </p:txBody>
        </p:sp>
        <p:sp>
          <p:nvSpPr>
            <p:cNvPr id="16399" name="Rectangle 236"/>
            <p:cNvSpPr>
              <a:spLocks noChangeArrowheads="1"/>
            </p:cNvSpPr>
            <p:nvPr/>
          </p:nvSpPr>
          <p:spPr bwMode="auto">
            <a:xfrm>
              <a:off x="3428" y="2626"/>
              <a:ext cx="1232" cy="1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16400" name="Group 237"/>
            <p:cNvGrpSpPr>
              <a:grpSpLocks/>
            </p:cNvGrpSpPr>
            <p:nvPr/>
          </p:nvGrpSpPr>
          <p:grpSpPr bwMode="auto">
            <a:xfrm>
              <a:off x="3402" y="2623"/>
              <a:ext cx="1234" cy="153"/>
              <a:chOff x="3050" y="1265"/>
              <a:chExt cx="1234" cy="153"/>
            </a:xfrm>
          </p:grpSpPr>
          <p:sp>
            <p:nvSpPr>
              <p:cNvPr id="16401" name="Text Box 238"/>
              <p:cNvSpPr txBox="1">
                <a:spLocks noChangeArrowheads="1"/>
              </p:cNvSpPr>
              <p:nvPr/>
            </p:nvSpPr>
            <p:spPr bwMode="auto">
              <a:xfrm>
                <a:off x="3050" y="1265"/>
                <a:ext cx="507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sz="1200" b="1" dirty="0">
                    <a:solidFill>
                      <a:srgbClr val="000000"/>
                    </a:solidFill>
                  </a:rPr>
                  <a:t>SREG:</a:t>
                </a:r>
              </a:p>
            </p:txBody>
          </p:sp>
          <p:grpSp>
            <p:nvGrpSpPr>
              <p:cNvPr id="16402" name="Group 239"/>
              <p:cNvGrpSpPr>
                <a:grpSpLocks/>
              </p:cNvGrpSpPr>
              <p:nvPr/>
            </p:nvGrpSpPr>
            <p:grpSpPr bwMode="auto">
              <a:xfrm>
                <a:off x="3421" y="1284"/>
                <a:ext cx="863" cy="134"/>
                <a:chOff x="4122" y="3796"/>
                <a:chExt cx="1027" cy="161"/>
              </a:xfrm>
            </p:grpSpPr>
            <p:sp>
              <p:nvSpPr>
                <p:cNvPr id="16403" name="Rectangle 240"/>
                <p:cNvSpPr>
                  <a:spLocks noChangeArrowheads="1"/>
                </p:cNvSpPr>
                <p:nvPr/>
              </p:nvSpPr>
              <p:spPr bwMode="auto">
                <a:xfrm>
                  <a:off x="4143" y="3805"/>
                  <a:ext cx="990" cy="146"/>
                </a:xfrm>
                <a:prstGeom prst="rect">
                  <a:avLst/>
                </a:prstGeom>
                <a:solidFill>
                  <a:srgbClr val="E4F39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000" b="1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404" name="Line 241"/>
                <p:cNvSpPr>
                  <a:spLocks noChangeShapeType="1"/>
                </p:cNvSpPr>
                <p:nvPr/>
              </p:nvSpPr>
              <p:spPr bwMode="auto">
                <a:xfrm>
                  <a:off x="4632" y="3802"/>
                  <a:ext cx="0" cy="15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05" name="Line 242"/>
                <p:cNvSpPr>
                  <a:spLocks noChangeShapeType="1"/>
                </p:cNvSpPr>
                <p:nvPr/>
              </p:nvSpPr>
              <p:spPr bwMode="auto">
                <a:xfrm>
                  <a:off x="4382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06" name="Line 243"/>
                <p:cNvSpPr>
                  <a:spLocks noChangeShapeType="1"/>
                </p:cNvSpPr>
                <p:nvPr/>
              </p:nvSpPr>
              <p:spPr bwMode="auto">
                <a:xfrm flipH="1">
                  <a:off x="4507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07" name="Line 244"/>
                <p:cNvSpPr>
                  <a:spLocks noChangeShapeType="1"/>
                </p:cNvSpPr>
                <p:nvPr/>
              </p:nvSpPr>
              <p:spPr bwMode="auto">
                <a:xfrm flipH="1">
                  <a:off x="4256" y="3803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08" name="Line 245"/>
                <p:cNvSpPr>
                  <a:spLocks noChangeShapeType="1"/>
                </p:cNvSpPr>
                <p:nvPr/>
              </p:nvSpPr>
              <p:spPr bwMode="auto">
                <a:xfrm>
                  <a:off x="5006" y="3803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09" name="Line 246"/>
                <p:cNvSpPr>
                  <a:spLocks noChangeShapeType="1"/>
                </p:cNvSpPr>
                <p:nvPr/>
              </p:nvSpPr>
              <p:spPr bwMode="auto">
                <a:xfrm>
                  <a:off x="4757" y="3801"/>
                  <a:ext cx="0" cy="15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10" name="Line 247"/>
                <p:cNvSpPr>
                  <a:spLocks noChangeShapeType="1"/>
                </p:cNvSpPr>
                <p:nvPr/>
              </p:nvSpPr>
              <p:spPr bwMode="auto">
                <a:xfrm flipH="1">
                  <a:off x="4882" y="3807"/>
                  <a:ext cx="0" cy="1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411" name="Text Box 248"/>
                <p:cNvSpPr txBox="1">
                  <a:spLocks noChangeArrowheads="1"/>
                </p:cNvSpPr>
                <p:nvPr/>
              </p:nvSpPr>
              <p:spPr bwMode="auto">
                <a:xfrm>
                  <a:off x="4122" y="3802"/>
                  <a:ext cx="147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I</a:t>
                  </a:r>
                </a:p>
              </p:txBody>
            </p:sp>
            <p:sp>
              <p:nvSpPr>
                <p:cNvPr id="16412" name="Text Box 249"/>
                <p:cNvSpPr txBox="1">
                  <a:spLocks noChangeArrowheads="1"/>
                </p:cNvSpPr>
                <p:nvPr/>
              </p:nvSpPr>
              <p:spPr bwMode="auto">
                <a:xfrm>
                  <a:off x="4233" y="3806"/>
                  <a:ext cx="157" cy="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T</a:t>
                  </a:r>
                </a:p>
              </p:txBody>
            </p:sp>
            <p:sp>
              <p:nvSpPr>
                <p:cNvPr id="16413" name="Text Box 250"/>
                <p:cNvSpPr txBox="1">
                  <a:spLocks noChangeArrowheads="1"/>
                </p:cNvSpPr>
                <p:nvPr/>
              </p:nvSpPr>
              <p:spPr bwMode="auto">
                <a:xfrm>
                  <a:off x="4355" y="3800"/>
                  <a:ext cx="173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H</a:t>
                  </a:r>
                </a:p>
              </p:txBody>
            </p:sp>
            <p:sp>
              <p:nvSpPr>
                <p:cNvPr id="16414" name="Text Box 251"/>
                <p:cNvSpPr txBox="1">
                  <a:spLocks noChangeArrowheads="1"/>
                </p:cNvSpPr>
                <p:nvPr/>
              </p:nvSpPr>
              <p:spPr bwMode="auto">
                <a:xfrm>
                  <a:off x="4482" y="3802"/>
                  <a:ext cx="173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S</a:t>
                  </a:r>
                </a:p>
              </p:txBody>
            </p:sp>
            <p:sp>
              <p:nvSpPr>
                <p:cNvPr id="16415" name="Text Box 252"/>
                <p:cNvSpPr txBox="1">
                  <a:spLocks noChangeArrowheads="1"/>
                </p:cNvSpPr>
                <p:nvPr/>
              </p:nvSpPr>
              <p:spPr bwMode="auto">
                <a:xfrm>
                  <a:off x="4603" y="3802"/>
                  <a:ext cx="173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V</a:t>
                  </a:r>
                </a:p>
              </p:txBody>
            </p:sp>
            <p:sp>
              <p:nvSpPr>
                <p:cNvPr id="16416" name="Text Box 253"/>
                <p:cNvSpPr txBox="1">
                  <a:spLocks noChangeArrowheads="1"/>
                </p:cNvSpPr>
                <p:nvPr/>
              </p:nvSpPr>
              <p:spPr bwMode="auto">
                <a:xfrm>
                  <a:off x="4732" y="3796"/>
                  <a:ext cx="174" cy="1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N</a:t>
                  </a:r>
                </a:p>
              </p:txBody>
            </p:sp>
            <p:sp>
              <p:nvSpPr>
                <p:cNvPr id="16417" name="Text Box 254"/>
                <p:cNvSpPr txBox="1">
                  <a:spLocks noChangeArrowheads="1"/>
                </p:cNvSpPr>
                <p:nvPr/>
              </p:nvSpPr>
              <p:spPr bwMode="auto">
                <a:xfrm>
                  <a:off x="4988" y="3802"/>
                  <a:ext cx="161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C</a:t>
                  </a:r>
                </a:p>
              </p:txBody>
            </p:sp>
            <p:sp>
              <p:nvSpPr>
                <p:cNvPr id="16418" name="Text Box 255"/>
                <p:cNvSpPr txBox="1">
                  <a:spLocks noChangeArrowheads="1"/>
                </p:cNvSpPr>
                <p:nvPr/>
              </p:nvSpPr>
              <p:spPr bwMode="auto">
                <a:xfrm>
                  <a:off x="4857" y="3800"/>
                  <a:ext cx="174" cy="14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1000" b="1">
                      <a:solidFill>
                        <a:srgbClr val="000000"/>
                      </a:solidFill>
                    </a:rPr>
                    <a:t>Z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0668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Data Address Space</a:t>
            </a:r>
          </a:p>
        </p:txBody>
      </p:sp>
      <p:pic>
        <p:nvPicPr>
          <p:cNvPr id="2097" name="Picture 4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052736"/>
            <a:ext cx="60198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150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71642"/>
              </p:ext>
            </p:extLst>
          </p:nvPr>
        </p:nvGraphicFramePr>
        <p:xfrm>
          <a:off x="165100" y="2959100"/>
          <a:ext cx="3338513" cy="345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Visio" r:id="rId4" imgW="4675937" imgH="4189171" progId="">
                  <p:embed/>
                </p:oleObj>
              </mc:Choice>
              <mc:Fallback>
                <p:oleObj name="Visio" r:id="rId4" imgW="4675937" imgH="4189171" progId="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2959100"/>
                        <a:ext cx="3338513" cy="34528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33CC33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00" y="1340768"/>
            <a:ext cx="5351463" cy="379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807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ATmega32 ports are 8-bit SFRs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Port A, Port B, Port C and Port D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Configurable as</a:t>
            </a:r>
          </a:p>
          <a:p>
            <a:pPr marL="457200" lvl="2">
              <a:lnSpc>
                <a:spcPct val="200000"/>
              </a:lnSpc>
            </a:pPr>
            <a:r>
              <a:rPr lang="en-US" sz="2200" dirty="0" smtClean="0"/>
              <a:t>Input Port</a:t>
            </a:r>
          </a:p>
          <a:p>
            <a:pPr marL="457200" lvl="2">
              <a:lnSpc>
                <a:spcPct val="200000"/>
              </a:lnSpc>
            </a:pPr>
            <a:r>
              <a:rPr lang="en-US" sz="2200" dirty="0" smtClean="0"/>
              <a:t>Output Port</a:t>
            </a:r>
          </a:p>
          <a:p>
            <a:pPr marL="457200" lvl="2">
              <a:lnSpc>
                <a:spcPct val="200000"/>
              </a:lnSpc>
            </a:pPr>
            <a:r>
              <a:rPr lang="en-US" sz="2200" dirty="0" smtClean="0"/>
              <a:t>Alternate Function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9600" y="6858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AVR 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3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Register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Port has 3 registers (8-Bit each)</a:t>
            </a:r>
          </a:p>
          <a:p>
            <a:pPr lvl="1"/>
            <a:r>
              <a:rPr lang="en-US" sz="2400" dirty="0" err="1" smtClean="0"/>
              <a:t>PORTx</a:t>
            </a:r>
            <a:r>
              <a:rPr lang="en-US" sz="2400" dirty="0" smtClean="0"/>
              <a:t> (Output Data)</a:t>
            </a:r>
          </a:p>
          <a:p>
            <a:pPr lvl="1"/>
            <a:r>
              <a:rPr lang="en-US" sz="2400" dirty="0" err="1" smtClean="0"/>
              <a:t>DDRx</a:t>
            </a:r>
            <a:r>
              <a:rPr lang="en-US" sz="2400" dirty="0" smtClean="0"/>
              <a:t>   (Direction of Data)</a:t>
            </a:r>
          </a:p>
          <a:p>
            <a:pPr lvl="1"/>
            <a:r>
              <a:rPr lang="en-US" sz="2400" dirty="0" err="1" smtClean="0"/>
              <a:t>PINx</a:t>
            </a:r>
            <a:r>
              <a:rPr lang="en-US" sz="2400" dirty="0" smtClean="0"/>
              <a:t>     (Input Data)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300" y="4679776"/>
            <a:ext cx="8686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57109" y="1196752"/>
            <a:ext cx="319613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5805264"/>
            <a:ext cx="8229600" cy="881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Upon reset, all ports have the value 0x00 in their DDR registers. This means that all ports are configured as input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16832"/>
            <a:ext cx="6772275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 smtClean="0"/>
              <a:t>Port Internal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82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37" y="1600200"/>
            <a:ext cx="7858125" cy="421957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Alternate </a:t>
            </a:r>
            <a:r>
              <a:rPr lang="en-US" dirty="0"/>
              <a:t>functions of Port A and Port B</a:t>
            </a:r>
          </a:p>
        </p:txBody>
      </p:sp>
    </p:spTree>
    <p:extLst>
      <p:ext uri="{BB962C8B-B14F-4D97-AF65-F5344CB8AC3E}">
        <p14:creationId xmlns:p14="http://schemas.microsoft.com/office/powerpoint/2010/main" val="335487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8612" y="1928961"/>
            <a:ext cx="8486775" cy="452437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09600" y="6858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Alternate </a:t>
            </a:r>
            <a:r>
              <a:rPr lang="en-US" dirty="0"/>
              <a:t>functions of Port </a:t>
            </a:r>
            <a:r>
              <a:rPr lang="en-US" dirty="0" smtClean="0"/>
              <a:t>C </a:t>
            </a:r>
            <a:r>
              <a:rPr lang="en-US" dirty="0"/>
              <a:t>and Port </a:t>
            </a:r>
            <a:r>
              <a:rPr lang="en-US" dirty="0" smtClean="0"/>
              <a:t>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8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466</TotalTime>
  <Words>418</Words>
  <Application>Microsoft Office PowerPoint</Application>
  <PresentationFormat>On-screen Show (4:3)</PresentationFormat>
  <Paragraphs>124</Paragraphs>
  <Slides>18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Clarity</vt:lpstr>
      <vt:lpstr>Visio</vt:lpstr>
      <vt:lpstr>Introduction to AVR </vt:lpstr>
      <vt:lpstr>Topics</vt:lpstr>
      <vt:lpstr>Microprocessors vs. Microcontrollers</vt:lpstr>
      <vt:lpstr>Why Microcontroller</vt:lpstr>
      <vt:lpstr>Microcontroller</vt:lpstr>
      <vt:lpstr>AVR Microcontroller</vt:lpstr>
      <vt:lpstr>RISC Advantages</vt:lpstr>
      <vt:lpstr>AVR Microcontroller</vt:lpstr>
      <vt:lpstr>AVR Which you have already learnt </vt:lpstr>
      <vt:lpstr>AVR Types</vt:lpstr>
      <vt:lpstr>AVR internal architecture</vt:lpstr>
      <vt:lpstr>AVR’s CPU</vt:lpstr>
      <vt:lpstr>Data Address Space</vt:lpstr>
      <vt:lpstr>PowerPoint Presentation</vt:lpstr>
      <vt:lpstr>Port Register Functions</vt:lpstr>
      <vt:lpstr>Port Internal Structure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AVR Chapter 1</dc:title>
  <dc:creator>admin</dc:creator>
  <cp:lastModifiedBy>admin</cp:lastModifiedBy>
  <cp:revision>71</cp:revision>
  <dcterms:created xsi:type="dcterms:W3CDTF">2021-04-20T09:45:25Z</dcterms:created>
  <dcterms:modified xsi:type="dcterms:W3CDTF">2024-02-24T08:00:34Z</dcterms:modified>
</cp:coreProperties>
</file>